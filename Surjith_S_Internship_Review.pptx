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ab7d29-4e76-5967-baa8-6f0bc63489f5}">
          <p14:sldIdLst>
            <p14:sldId id="256"/>
            <p14:sldId id="257"/>
            <p14:sldId id="258"/>
            <p14:sldId id="259"/>
            <p14:sldId id="260"/>
          </p14:sldIdLst>
        </p14:section>
        <p14:section name="Study" id="{c0ab834c-16c7-d333-ad20-7c9894e7e5fb}">
          <p14:sldIdLst>
            <p14:sldId id="261"/>
            <p14:sldId id="262"/>
            <p14:sldId id="263"/>
            <p14:sldId id="264"/>
          </p14:sldIdLst>
        </p14:section>
        <p14:section name="Design" id="{74d72164-2ba4-6157-71ad-26aaec5ae08a}">
          <p14:sldIdLst>
            <p14:sldId id="265"/>
            <p14:sldId id="266"/>
            <p14:sldId id="267"/>
            <p14:sldId id="268"/>
            <p14:sldId id="269"/>
          </p14:sldIdLst>
        </p14:section>
        <p14:section name="Results" id="{38c9059a-af5c-fe67-7d3a-7e077e63cefa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onclusion" id="{02a8ecc7-4aa8-69f5-2a06-8fb830ac2814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64008" cy="123444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" name="Text 1"/>
          <p:cNvSpPr txBox="1"/>
          <p:nvPr>
            <p:ph idx="101" type="title" hasCustomPrompt="1"/>
          </p:nvPr>
        </p:nvSpPr>
        <p:spPr>
          <a:xfrm>
            <a:off x="822960" y="1097280"/>
            <a:ext cx="76809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 txBox="1"/>
          <p:nvPr>
            <p:ph idx="102" type="body" hasCustomPrompt="1"/>
          </p:nvPr>
        </p:nvSpPr>
        <p:spPr>
          <a:xfrm>
            <a:off x="822960" y="2194560"/>
            <a:ext cx="76809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C7D2FE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822960" y="109728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Employee Management Analysis using Java Full Stack</a:t>
            </a:r>
            <a:endParaRPr lang="en-US" sz="3200" dirty="0"/>
          </a:p>
        </p:txBody>
      </p:sp>
      <p:sp>
        <p:nvSpPr>
          <p:cNvPr id="3" name="Text 1"/>
          <p:cNvSpPr txBox="1"/>
          <p:nvPr>
            <p:ph idx="102" type="body" hasCustomPrompt="1"/>
          </p:nvPr>
        </p:nvSpPr>
        <p:spPr>
          <a:xfrm>
            <a:off x="822960" y="2194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D2FE"/>
                </a:solidFill>
              </a:rPr>
              <a:t>Summer Internship Review  |  IT3711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0E7FF"/>
                </a:solidFill>
              </a:rPr>
              <a:t>Surjith S (810023205031)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0E7FF"/>
                </a:solidFill>
              </a:rPr>
              <a:t>B.Tech Information Technology, VII Semester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0E7FF"/>
                </a:solidFill>
              </a:rPr>
              <a:t>University College of Engineering (BIT Campus), Anna University, Tiruchirappalli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0E7FF"/>
                </a:solidFill>
              </a:rPr>
              <a:t>Company: Besant Technologies, Chennai  |  01.06.2026 – 30.06.2026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Company Profile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0515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Besant Technologies – technology training organisation in Velachery, Chennai, Tamil Nadu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Instructor-led training and internship programmes in software development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Offer letter (10 May 2026), internship letter and certificate of attendance issued by Manager – HR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Learning through explanation, demonstration, guided practice and project work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My project: Employee Management Analysis (Java, HTML, CSS, JavaScript, SQL)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0515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Full Stack Java combines front end, back end and database in one web application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Front end: HTML, CSS, JavaScript  |  Back end: Java  |  Data: SQL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Project manages employee records through CRUD operations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Workflow: Login → Dashboard → Add / View / Search → Update → Delete → Report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Hands-on experience in web development, database handling and testing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Objectives of the Internship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0515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Gain practical knowledge of Full Stack Java development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Learn Java, HTML, CSS, JavaScript and SQL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Design web pages, application logic and data management with CRUD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Understand request-response communication and input validation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Improve problem-solving, teamwork and time management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Bridge the gap between academic learning and industry practice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Motivation</a:t>
            </a:r>
            <a:endParaRPr lang="en-US" sz="2600" dirty="0"/>
          </a:p>
        </p:txBody>
      </p:sp>
      <p:sp>
        <p:nvSpPr>
          <p:cNvPr id="3" name="Card Accuracy"/>
          <p:cNvSpPr/>
          <p:nvPr/>
        </p:nvSpPr>
        <p:spPr>
          <a:xfrm>
            <a:off x="548640" y="109728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5F5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Accuracy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00707"/>
            <a:ext cx="228600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Validation and constraints stop duplicate and invalid records</a:t>
            </a:r>
            <a:endParaRPr lang="en-US" sz="1400" dirty="0"/>
          </a:p>
        </p:txBody>
      </p:sp>
      <p:sp>
        <p:nvSpPr>
          <p:cNvPr id="6" name="Card Speed"/>
          <p:cNvSpPr/>
          <p:nvPr/>
        </p:nvSpPr>
        <p:spPr>
          <a:xfrm>
            <a:off x="3291840" y="109728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5F5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070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Speed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000707"/>
            <a:ext cx="228600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Search and retrieve an employee record in seconds</a:t>
            </a:r>
            <a:endParaRPr lang="en-US" sz="1400" dirty="0"/>
          </a:p>
        </p:txBody>
      </p:sp>
      <p:sp>
        <p:nvSpPr>
          <p:cNvPr id="9" name="Card Control"/>
          <p:cNvSpPr/>
          <p:nvPr/>
        </p:nvSpPr>
        <p:spPr>
          <a:xfrm>
            <a:off x="6035040" y="109728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5F5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0700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Control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000707"/>
            <a:ext cx="228600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Role-based access for Admin and Viewer users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Manual registers and separate spreadsheets lead to duplicate, inconsistent and slow-to-search employee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Existing System – Limitations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0515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Data redundancy – same record stored in many files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Data inconsistency – updates not reflected in every copy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Slow retrieval – many files or pages to search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Human errors – spelling mistakes, wrong dates, missing fields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Poor security – files copied or changed without control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Difficult reporting – department-wise summaries take time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No validation; limited access control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Proposed System</a:t>
            </a:r>
            <a:endParaRPr lang="en-US" sz="2600" dirty="0"/>
          </a:p>
        </p:txBody>
      </p:sp>
      <p:sp>
        <p:nvSpPr>
          <p:cNvPr id="3" name="Bullets"/>
          <p:cNvSpPr txBox="1"/>
          <p:nvPr/>
        </p:nvSpPr>
        <p:spPr>
          <a:xfrm>
            <a:off x="548640" y="105156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Web-based Employee Management Analysis system built with Java Full Stack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HTML, CSS and JavaScript for an interactive interface; Java for application logic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Relational database with SQL, keys and constraints for data integrity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CRUD: add, view, search, update and delete employee records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Stored details: ID, name, department, designation, email, joining date, status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Department-wise summary report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Technologies Studied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learned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OOP, collections, exception handling, JDBC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structure, forms, tables, input fields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Colours, fonts, spacing, layout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 validation, events, messages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CRUD, joins, GROUP BY, constraints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database with SQL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IDE, code editor, web browser, MS 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Internship Schedule</a:t>
            </a:r>
            <a:endParaRPr lang="en-US" sz="2600" dirty="0"/>
          </a:p>
        </p:txBody>
      </p:sp>
      <p:sp>
        <p:nvSpPr>
          <p:cNvPr id="3" name="Card Week 1"/>
          <p:cNvSpPr/>
          <p:nvPr/>
        </p:nvSpPr>
        <p:spPr>
          <a:xfrm>
            <a:off x="548640" y="960120"/>
            <a:ext cx="1874520" cy="1143000"/>
          </a:xfrm>
          <a:prstGeom prst="roundRect">
            <a:avLst>
              <a:gd name="adj" fmla="val 9600"/>
            </a:avLst>
          </a:prstGeom>
          <a:solidFill>
            <a:srgbClr val="F5F5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698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Week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1600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Java &amp; OOP</a:t>
            </a:r>
            <a:endParaRPr lang="en-US" sz="1400" dirty="0"/>
          </a:p>
        </p:txBody>
      </p:sp>
      <p:sp>
        <p:nvSpPr>
          <p:cNvPr id="6" name="Card Week 2"/>
          <p:cNvSpPr/>
          <p:nvPr/>
        </p:nvSpPr>
        <p:spPr>
          <a:xfrm>
            <a:off x="2606040" y="960120"/>
            <a:ext cx="1874520" cy="1143000"/>
          </a:xfrm>
          <a:prstGeom prst="roundRect">
            <a:avLst>
              <a:gd name="adj" fmla="val 9600"/>
            </a:avLst>
          </a:prstGeom>
          <a:solidFill>
            <a:srgbClr val="F5F5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97480" y="10698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Week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554480"/>
            <a:ext cx="1600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HTML, CSS, JS</a:t>
            </a:r>
            <a:endParaRPr lang="en-US" sz="1400" dirty="0"/>
          </a:p>
        </p:txBody>
      </p:sp>
      <p:sp>
        <p:nvSpPr>
          <p:cNvPr id="9" name="Card Week 3"/>
          <p:cNvSpPr/>
          <p:nvPr/>
        </p:nvSpPr>
        <p:spPr>
          <a:xfrm>
            <a:off x="4663440" y="960120"/>
            <a:ext cx="1874520" cy="1143000"/>
          </a:xfrm>
          <a:prstGeom prst="roundRect">
            <a:avLst>
              <a:gd name="adj" fmla="val 9600"/>
            </a:avLst>
          </a:prstGeom>
          <a:solidFill>
            <a:srgbClr val="F5F5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0698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Week 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1600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SQL &amp; CRUD</a:t>
            </a:r>
            <a:endParaRPr lang="en-US" sz="1400" dirty="0"/>
          </a:p>
        </p:txBody>
      </p:sp>
      <p:sp>
        <p:nvSpPr>
          <p:cNvPr id="12" name="Card Week 4"/>
          <p:cNvSpPr/>
          <p:nvPr/>
        </p:nvSpPr>
        <p:spPr>
          <a:xfrm>
            <a:off x="6720840" y="960120"/>
            <a:ext cx="1874520" cy="1143000"/>
          </a:xfrm>
          <a:prstGeom prst="roundRect">
            <a:avLst>
              <a:gd name="adj" fmla="val 9600"/>
            </a:avLst>
          </a:prstGeom>
          <a:solidFill>
            <a:srgbClr val="F5F5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0698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Week 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554480"/>
            <a:ext cx="1600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Project &amp; Testing</a:t>
            </a:r>
            <a:endParaRPr lang="en-US" sz="1400" dirty="0"/>
          </a:p>
        </p:txBody>
      </p:sp>
      <p:pic>
        <p:nvPicPr>
          <p:cNvPr id="15" name="Image 0" descr="Internship schedule chart, June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286000"/>
            <a:ext cx="6217920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Layer Presentation Layer"/>
          <p:cNvSpPr/>
          <p:nvPr/>
        </p:nvSpPr>
        <p:spPr>
          <a:xfrm>
            <a:off x="914400" y="100584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005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Presentation Layer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HTML, CSS, JavaScript in the web browser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737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▼</a:t>
            </a:r>
            <a:endParaRPr lang="en-US" sz="1200" dirty="0"/>
          </a:p>
        </p:txBody>
      </p:sp>
      <p:sp>
        <p:nvSpPr>
          <p:cNvPr id="6" name="Layer Application Layer"/>
          <p:cNvSpPr/>
          <p:nvPr/>
        </p:nvSpPr>
        <p:spPr>
          <a:xfrm>
            <a:off x="914400" y="214884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48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Application Layer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Java servlets / controllers, business logic, DAO classes (JDBC)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8803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Layer Database Layer"/>
          <p:cNvSpPr/>
          <p:nvPr/>
        </p:nvSpPr>
        <p:spPr>
          <a:xfrm>
            <a:off x="914400" y="329184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291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 Layer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SQL – employee, department and users tables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Browser sends HTTP requests to Java; Java sends SQL queries to the database; results travel back to the user.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Modules</a:t>
            </a:r>
            <a:endParaRPr lang="en-US" sz="2600" dirty="0"/>
          </a:p>
        </p:txBody>
      </p:sp>
      <p:sp>
        <p:nvSpPr>
          <p:cNvPr id="3" name="Module Authentication"/>
          <p:cNvSpPr/>
          <p:nvPr/>
        </p:nvSpPr>
        <p:spPr>
          <a:xfrm>
            <a:off x="658368" y="109728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0972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5" name="Module Employee Mgmt"/>
          <p:cNvSpPr/>
          <p:nvPr/>
        </p:nvSpPr>
        <p:spPr>
          <a:xfrm>
            <a:off x="2258568" y="109728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58568" y="10972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Employee Mgmt</a:t>
            </a:r>
            <a:endParaRPr lang="en-US" sz="1400" dirty="0"/>
          </a:p>
        </p:txBody>
      </p:sp>
      <p:sp>
        <p:nvSpPr>
          <p:cNvPr id="7" name="Module Update"/>
          <p:cNvSpPr/>
          <p:nvPr/>
        </p:nvSpPr>
        <p:spPr>
          <a:xfrm>
            <a:off x="3858768" y="109728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58768" y="10972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Update</a:t>
            </a:r>
            <a:endParaRPr lang="en-US" sz="1400" dirty="0"/>
          </a:p>
        </p:txBody>
      </p:sp>
      <p:sp>
        <p:nvSpPr>
          <p:cNvPr id="9" name="Module Deletion"/>
          <p:cNvSpPr/>
          <p:nvPr/>
        </p:nvSpPr>
        <p:spPr>
          <a:xfrm>
            <a:off x="5458968" y="109728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58968" y="10972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Deletion</a:t>
            </a:r>
            <a:endParaRPr lang="en-US" sz="1400" dirty="0"/>
          </a:p>
        </p:txBody>
      </p:sp>
      <p:sp>
        <p:nvSpPr>
          <p:cNvPr id="11" name="Module Database Mgmt"/>
          <p:cNvSpPr/>
          <p:nvPr/>
        </p:nvSpPr>
        <p:spPr>
          <a:xfrm>
            <a:off x="7059168" y="109728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9168" y="10972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 Mgmt</a:t>
            </a:r>
            <a:endParaRPr lang="en-US" sz="1400" dirty="0"/>
          </a:p>
        </p:txBody>
      </p:sp>
      <p:sp>
        <p:nvSpPr>
          <p:cNvPr id="13" name="Bullets"/>
          <p:cNvSpPr txBox="1"/>
          <p:nvPr/>
        </p:nvSpPr>
        <p:spPr>
          <a:xfrm>
            <a:off x="548640" y="214884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Login and authentication – only authorised users enter the system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Add, view and search employee records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Edit and save updated employee details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Delete invalid or duplicate records with confirmation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CRUD operations and SQL query execution in the database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Database Design</a:t>
            </a:r>
            <a:endParaRPr lang="en-US" sz="2600" dirty="0"/>
          </a:p>
        </p:txBody>
      </p:sp>
      <p:pic>
        <p:nvPicPr>
          <p:cNvPr id="3" name="Image 0" descr="Entity-relationship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914400"/>
            <a:ext cx="6583680" cy="2465456"/>
          </a:xfrm>
          <a:prstGeom prst="rect">
            <a:avLst/>
          </a:prstGeom>
        </p:spPr>
      </p:pic>
      <p:sp>
        <p:nvSpPr>
          <p:cNvPr id="4" name="Bullets"/>
          <p:cNvSpPr txBox="1"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Three tables: employee, department and users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employee.department_id is a foreign key – many employees belong to one department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Functional Requirements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949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login with username and password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employee with all required 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employee list in a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ID, name or department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existing employee 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deactivate after confirmation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mandatory fields, formats, duplicate IDs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Department-wise summary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User Roles &amp; Access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/ search employees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employee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employee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 deactivate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Access is checked in the Java application, not only on the page – hidden buttons can still be called directly.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Code Highlight: Add Employee</a:t>
            </a:r>
            <a:endParaRPr lang="en-US" sz="2600" dirty="0"/>
          </a:p>
        </p:txBody>
      </p:sp>
      <p:sp>
        <p:nvSpPr>
          <p:cNvPr id="3" name="Code block"/>
          <p:cNvSpPr/>
          <p:nvPr/>
        </p:nvSpPr>
        <p:spPr>
          <a:xfrm>
            <a:off x="548640" y="1005840"/>
            <a:ext cx="8046720" cy="283464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43000"/>
            <a:ext cx="7589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"INSERT INTO employee "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"(employee_id, employee_name, email, department) "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"VALUES (?, ?, ?, ?)";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(Connection con = DBConnection.getConnection();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PreparedStatement ps = con.prepareStatement(sql)) {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ps.setInt(1, e.getId());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ps.setString(2, e.getName());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ps.setString(3, e.getEmail());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ps.setString(4, e.getDepartment());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ps.executeUpdate() &gt; 0;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Data-access method: a PreparedStatement binds values as data, protecting the application from SQL injection.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Test Cases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reaches the home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 displayed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rejected with a 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employee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without @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message shown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existing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record displayed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designation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designation saved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with confirmation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removed from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Login &amp; Invalid Login</a:t>
            </a:r>
            <a:endParaRPr lang="en-US" sz="2600" dirty="0"/>
          </a:p>
        </p:txBody>
      </p:sp>
      <p:pic>
        <p:nvPicPr>
          <p:cNvPr id="3" name="Image 0" descr="Login page – password mas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9251"/>
            <a:ext cx="3931920" cy="2024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Login page – password masked</a:t>
            </a:r>
            <a:endParaRPr lang="en-US" sz="1300" dirty="0"/>
          </a:p>
        </p:txBody>
      </p:sp>
      <p:pic>
        <p:nvPicPr>
          <p:cNvPr id="5" name="Image 1" descr="Invalid login – error message, no acc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64204"/>
            <a:ext cx="3931920" cy="213503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Invalid login – error message, no access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Dashboard</a:t>
            </a:r>
            <a:endParaRPr lang="en-US" sz="2600" dirty="0"/>
          </a:p>
        </p:txBody>
      </p:sp>
      <p:pic>
        <p:nvPicPr>
          <p:cNvPr id="3" name="Image 0" descr="Dashboard – totals, employees by department, quick a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182" y="868680"/>
            <a:ext cx="5477636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Dashboard – totals, employees by department, quick actions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Employee List</a:t>
            </a:r>
            <a:endParaRPr lang="en-US" sz="2600" dirty="0"/>
          </a:p>
        </p:txBody>
      </p:sp>
      <p:pic>
        <p:nvPicPr>
          <p:cNvPr id="3" name="Image 0" descr="Employee list – search, filter, status labels, Edit and Dele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5436" y="868680"/>
            <a:ext cx="4413127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Employee list – search, filter, status labels, Edit and Delete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Add Employee &amp; Validation</a:t>
            </a:r>
            <a:endParaRPr lang="en-US" sz="2600" dirty="0"/>
          </a:p>
        </p:txBody>
      </p:sp>
      <p:pic>
        <p:nvPicPr>
          <p:cNvPr id="3" name="Image 0" descr="Add employe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32484"/>
            <a:ext cx="3931920" cy="239847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Add employee form</a:t>
            </a:r>
            <a:endParaRPr lang="en-US" sz="1300" dirty="0"/>
          </a:p>
        </p:txBody>
      </p:sp>
      <p:pic>
        <p:nvPicPr>
          <p:cNvPr id="5" name="Image 1" descr="Client-side validation messa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624" y="960120"/>
            <a:ext cx="3885552" cy="2743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Client-side validation messages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Search</a:t>
            </a:r>
            <a:endParaRPr lang="en-US" sz="2600" dirty="0"/>
          </a:p>
        </p:txBody>
      </p:sp>
      <p:pic>
        <p:nvPicPr>
          <p:cNvPr id="3" name="Image 0" descr="Search by department – 4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9591"/>
            <a:ext cx="3931920" cy="20642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Search by department – 4 records</a:t>
            </a:r>
            <a:endParaRPr lang="en-US" sz="1300" dirty="0"/>
          </a:p>
        </p:txBody>
      </p:sp>
      <p:pic>
        <p:nvPicPr>
          <p:cNvPr id="5" name="Image 1" descr="No records found mess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52408"/>
            <a:ext cx="3931920" cy="21586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No records found message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Update &amp; Delete</a:t>
            </a:r>
            <a:endParaRPr lang="en-US" sz="2600" dirty="0"/>
          </a:p>
        </p:txBody>
      </p:sp>
      <p:pic>
        <p:nvPicPr>
          <p:cNvPr id="3" name="Image 0" descr="Record updated successful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6604"/>
            <a:ext cx="3931920" cy="1950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Record updated successfully</a:t>
            </a:r>
            <a:endParaRPr lang="en-US" sz="1300" dirty="0"/>
          </a:p>
        </p:txBody>
      </p:sp>
      <p:pic>
        <p:nvPicPr>
          <p:cNvPr id="5" name="Image 1" descr="Confirmation before dele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60272"/>
            <a:ext cx="3931920" cy="21428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Confirmation before deleting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Report &amp; Access Control</a:t>
            </a:r>
            <a:endParaRPr lang="en-US" sz="2600" dirty="0"/>
          </a:p>
        </p:txBody>
      </p:sp>
      <p:pic>
        <p:nvPicPr>
          <p:cNvPr id="3" name="Image 0" descr="Department-wise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0272"/>
            <a:ext cx="3931920" cy="2142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Department-wise report</a:t>
            </a:r>
            <a:endParaRPr lang="en-US" sz="1300" dirty="0"/>
          </a:p>
        </p:txBody>
      </p:sp>
      <p:pic>
        <p:nvPicPr>
          <p:cNvPr id="5" name="Image 1" descr="Access denied for a vie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17285"/>
            <a:ext cx="3931920" cy="20288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Access denied for a viewer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Output: SQL Results</a:t>
            </a:r>
            <a:endParaRPr lang="en-US" sz="2600" dirty="0"/>
          </a:p>
        </p:txBody>
      </p:sp>
      <p:pic>
        <p:nvPicPr>
          <p:cNvPr id="3" name="Image 0" descr="GROUP BY with COU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8851"/>
            <a:ext cx="3931920" cy="12857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GROUP BY with COUNT</a:t>
            </a:r>
            <a:endParaRPr lang="en-US" sz="1300" dirty="0"/>
          </a:p>
        </p:txBody>
      </p:sp>
      <p:pic>
        <p:nvPicPr>
          <p:cNvPr id="5" name="Image 1" descr="INNER JOIN of employee and depart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547302"/>
            <a:ext cx="3931920" cy="15688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66344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INNER JOIN of employee and department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Challenges &amp; Solutions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browser, Java code and 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Traced one operation from form to database step by 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in SQL statements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each query separately on sample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and incomplete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fields, unique constraints, validation messages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and SQL mixed together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database code into a data-access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in a one-month period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goals for learning, design, implementation, documentation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Practical skills in Java, HTML, CSS, JavaScript and 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Employee records managed efficiently with CRUD operations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Bridged academic learning and industry practice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Attendance and leave management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Payroll and salary slips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PDF / Excel report export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Spring Boot REST API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Password hashing, responsive design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737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A Review">
  <a:themeElements>
    <a:clrScheme name="EMA Review">
      <a:dk1>
        <a:srgbClr val="111827"/>
      </a:dk1>
      <a:lt1>
        <a:srgbClr val="FFFFFF"/>
      </a:lt1>
      <a:dk2>
        <a:srgbClr val="1E1B4B"/>
      </a:dk2>
      <a:lt2>
        <a:srgbClr val="F5F5FF"/>
      </a:lt2>
      <a:accent1>
        <a:srgbClr val="4F46E5"/>
      </a:accent1>
      <a:accent2>
        <a:srgbClr val="7C3AED"/>
      </a:accent2>
      <a:accent3>
        <a:srgbClr val="F59E0B"/>
      </a:accent3>
      <a:accent4>
        <a:srgbClr val="059669"/>
      </a:accent4>
      <a:accent5>
        <a:srgbClr val="DC2626"/>
      </a:accent5>
      <a:accent6>
        <a:srgbClr val="0EA5E9"/>
      </a:accent6>
      <a:hlink>
        <a:srgbClr val="4F46E5"/>
      </a:hlink>
      <a:folHlink>
        <a:srgbClr val="7C3AED"/>
      </a:folHlink>
    </a:clrScheme>
    <a:fontScheme name="EMA Revie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Management Analysis using Java Full Stack – Internship Review</dc:title>
  <dc:subject>PptxGenJS Presentation</dc:subject>
  <dc:creator>Surjith S</dc:creator>
  <cp:lastModifiedBy>Surjith S</cp:lastModifiedBy>
  <cp:revision>1</cp:revision>
  <dcterms:created xsi:type="dcterms:W3CDTF">2026-10-21T17:02:07Z</dcterms:created>
  <dcterms:modified xsi:type="dcterms:W3CDTF">2026-10-21T17:02:07Z</dcterms:modified>
</cp:coreProperties>
</file>